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11480"/>
            <a:ext cx="512064" cy="512064"/>
          </a:xfrm>
          <a:prstGeom prst="round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rFonts a:latin="Arial" a:ea="Arial" a:cs="Arial"/>
                <a:solidFill>
                  <a:srgbClr val="FFFFFF"/>
                </a:solidFill>
                <a:latin typeface="Arial"/>
              </a:rPr>
              <a:t>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420624"/>
            <a:ext cx="2286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哈尔滨工业大学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676656"/>
            <a:ext cx="42976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机器人技术与系统国家重点实验室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1430">
            <a:solidFill>
              <a:srgbClr val="B9C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6002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ACADEMIC SELF-INTRODUCTION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自我介绍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毛天佑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35584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rFonts a:latin="Arial" a:ea="Arial" a:cs="Arial"/>
                <a:solidFill>
                  <a:srgbClr val="5C6D81"/>
                </a:solidFill>
                <a:latin typeface="Arial"/>
              </a:rPr>
              <a:t>Tianyou Mao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858768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哈尔滨工业大学 · 机械工程博士研究生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32511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从飞行器设计到空中操作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4919472"/>
            <a:ext cx="1060704" cy="33832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924044"/>
            <a:ext cx="9875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仿生飞行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088" y="4919472"/>
            <a:ext cx="1060704" cy="33832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3664" y="4924044"/>
            <a:ext cx="9875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飞行控制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4919472"/>
            <a:ext cx="1060704" cy="33832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4924044"/>
            <a:ext cx="9875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空中操作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623560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23B908026@stu.hit.edu.cn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934456"/>
            <a:ext cx="5010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rFonts a:latin="Arial" a:ea="Arial" a:cs="Arial"/>
                <a:solidFill>
                  <a:srgbClr val="5C6D81"/>
                </a:solidFill>
                <a:latin typeface="Arial"/>
              </a:rPr>
              <a:t>https://maotianyou123-tech.github.io/</a:t>
            </a:r>
          </a:p>
        </p:txBody>
      </p:sp>
      <p:pic>
        <p:nvPicPr>
          <p:cNvPr id="22" name="Picture 21" descr="尾座式复合模态飞行器室外飞行"/>
          <p:cNvPicPr>
            <a:picLocks noChangeAspect="1"/>
          </p:cNvPicPr>
          <p:nvPr/>
        </p:nvPicPr>
        <p:blipFill>
          <a:blip r:embed="rId2"/>
          <a:srcRect l="12378" r="12378"/>
          <a:stretch>
            <a:fillRect/>
          </a:stretch>
        </p:blipFill>
        <p:spPr>
          <a:xfrm>
            <a:off x="5989320" y="1353312"/>
            <a:ext cx="5650992" cy="422452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989320" y="1353312"/>
            <a:ext cx="5650992" cy="4224528"/>
          </a:xfrm>
          <a:prstGeom prst="rect">
            <a:avLst/>
          </a:prstGeom>
          <a:noFill/>
          <a:ln w="10160">
            <a:solidFill>
              <a:srgbClr val="C7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5093208"/>
            <a:ext cx="5650992" cy="48463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148072"/>
            <a:ext cx="52120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设计  ·  建模  ·  控制  ·  飞行验证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5779008"/>
            <a:ext cx="5577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机器人技术与系统国家重点实验室 · 中德空间机器人技术联合实验室（刘宏院士团队）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02  个人概况与教育经历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960120"/>
            <a:ext cx="2834640" cy="5285232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毛天佑 portra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197864"/>
            <a:ext cx="1426464" cy="14264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25296" y="1197864"/>
            <a:ext cx="1426464" cy="1426464"/>
          </a:xfrm>
          <a:prstGeom prst="rect">
            <a:avLst/>
          </a:prstGeom>
          <a:noFill/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24048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毛天佑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72968"/>
            <a:ext cx="24048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 lang="zh-CN">
                <a:rFonts a:latin="Arial" a:ea="Arial" a:cs="Arial"/>
                <a:solidFill>
                  <a:srgbClr val="5C6D81"/>
                </a:solidFill>
                <a:latin typeface="Arial"/>
              </a:rPr>
              <a:t>Tianyou Mao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75304"/>
            <a:ext cx="240487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哈尔滨工业大学 · 机械工程博士研究生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" y="4142232"/>
            <a:ext cx="2231136" cy="0"/>
          </a:xfrm>
          <a:prstGeom prst="line">
            <a:avLst/>
          </a:prstGeom>
          <a:ln w="10160">
            <a:solidFill>
              <a:srgbClr val="D5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429768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90288"/>
            <a:ext cx="2304288" cy="6675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机器人技术与系统国家重点实验室 · 中德空间机器人技术联合实验室（刘宏院士团队）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2943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研究兴趣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5595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5641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仿生机器人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75104" y="55595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55641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飞行器设计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7881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7927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飞控算法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75104" y="57881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7927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气动建模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60167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60213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空中操作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75104" y="6016752"/>
            <a:ext cx="1060704" cy="21031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6021324"/>
            <a:ext cx="98755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全驱动飞行器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960120"/>
            <a:ext cx="8074152" cy="5285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77056" y="11887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教育经历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1225296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rFonts a:latin="Arial" a:ea="Arial" a:cs="Arial"/>
                <a:solidFill>
                  <a:srgbClr val="8EACD2"/>
                </a:solidFill>
                <a:latin typeface="Arial"/>
              </a:rPr>
              <a:t>Education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58768" y="1636776"/>
            <a:ext cx="7507224" cy="0"/>
          </a:xfrm>
          <a:prstGeom prst="line">
            <a:avLst/>
          </a:prstGeom>
          <a:ln w="10160">
            <a:solidFill>
              <a:srgbClr val="D5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31336" y="1810512"/>
            <a:ext cx="7562088" cy="1024128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31336" y="1837943"/>
            <a:ext cx="54864" cy="969264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05656" y="1984248"/>
            <a:ext cx="1755648" cy="31089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1988819"/>
            <a:ext cx="168249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2023.09 — 至今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1929384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哈尔滨工业大学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233172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博士研究生 · 机械工程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4896" y="2560320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推荐攻博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31336" y="3054096"/>
            <a:ext cx="7562088" cy="1024128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31336" y="3081527"/>
            <a:ext cx="54864" cy="969264"/>
          </a:xfrm>
          <a:prstGeom prst="rect">
            <a:avLst/>
          </a:prstGeom>
          <a:solidFill>
            <a:srgbClr val="8EA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05656" y="3227832"/>
            <a:ext cx="1755648" cy="31089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42232" y="3232403"/>
            <a:ext cx="168249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2021.09 — 2023.07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172968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哈尔滨工业大学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4768" y="3575303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硕士 · 机器人工程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4896" y="380390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推荐免试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31336" y="4297680"/>
            <a:ext cx="7562088" cy="1024128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31336" y="4325112"/>
            <a:ext cx="54864" cy="969264"/>
          </a:xfrm>
          <a:prstGeom prst="rect">
            <a:avLst/>
          </a:prstGeom>
          <a:solidFill>
            <a:srgbClr val="8EA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05656" y="4471416"/>
            <a:ext cx="1755648" cy="31089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42232" y="4475988"/>
            <a:ext cx="168249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2017.09 — 2021.07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4416552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哈尔滨工程大学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48188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本科 · 机械设计制造及其自动化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5047488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专业排名 18 / 270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31336" y="5660136"/>
            <a:ext cx="7562088" cy="393192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0" y="5696712"/>
            <a:ext cx="71871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研究方向覆盖仿生机器人、飞行器设计、飞控算法、气动建模、空中操作与全驱动飞行器。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03  研究主线：从系统设计到飞行验证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围绕飞行平台，贯通构型设计、气动建模、控制方法与实机验证。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444752"/>
            <a:ext cx="2633472" cy="1170432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472184"/>
            <a:ext cx="54864" cy="1115568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0934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572768"/>
            <a:ext cx="1737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系统设计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1956816"/>
            <a:ext cx="1737360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面向任务需求设计飞行平台与机构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91256" y="2029968"/>
            <a:ext cx="201168" cy="0"/>
          </a:xfrm>
          <a:prstGeom prst="line">
            <a:avLst/>
          </a:prstGeom>
          <a:ln w="1905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42132" y="1988819"/>
            <a:ext cx="82296" cy="82296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44752"/>
            <a:ext cx="2633472" cy="1170432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1472184"/>
            <a:ext cx="54864" cy="1115568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60934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572768"/>
            <a:ext cx="1737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建模分析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956816"/>
            <a:ext cx="1737360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研究气动、动力学与构型耦合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2029968"/>
            <a:ext cx="201168" cy="0"/>
          </a:xfrm>
          <a:prstGeom prst="line">
            <a:avLst/>
          </a:prstGeom>
          <a:ln w="1905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249923" y="1988819"/>
            <a:ext cx="82296" cy="82296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1444752"/>
            <a:ext cx="2633472" cy="1170432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5936" y="1472184"/>
            <a:ext cx="54864" cy="1115568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160934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572768"/>
            <a:ext cx="1737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控制方法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956816"/>
            <a:ext cx="1737360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设计全姿态与多模态飞行控制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06840" y="2029968"/>
            <a:ext cx="201168" cy="0"/>
          </a:xfrm>
          <a:prstGeom prst="line">
            <a:avLst/>
          </a:prstGeom>
          <a:ln w="1905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157716" y="1988819"/>
            <a:ext cx="82296" cy="82296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53728" y="1444752"/>
            <a:ext cx="2633472" cy="1170432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53728" y="1472184"/>
            <a:ext cx="54864" cy="1115568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7" y="160934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1572768"/>
            <a:ext cx="1737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实机验证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1956816"/>
            <a:ext cx="1737360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结合风洞、飞行实验与日志分析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2962656"/>
            <a:ext cx="358444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仿生复合模态飞行器"/>
          <p:cNvPicPr>
            <a:picLocks noChangeAspect="1"/>
          </p:cNvPicPr>
          <p:nvPr/>
        </p:nvPicPr>
        <p:blipFill>
          <a:blip r:embed="rId2"/>
          <a:srcRect t="6763" b="6763"/>
          <a:stretch>
            <a:fillRect/>
          </a:stretch>
        </p:blipFill>
        <p:spPr>
          <a:xfrm>
            <a:off x="640080" y="3072384"/>
            <a:ext cx="3364991" cy="163677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40080" y="3072384"/>
            <a:ext cx="3364991" cy="1636776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4944" y="4882896"/>
            <a:ext cx="1097280" cy="26517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87468"/>
            <a:ext cx="1024127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研究方向 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5230368"/>
            <a:ext cx="325526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仿生复合模态飞行器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5641848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变相位机翼与矢量旋翼协同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2962656"/>
            <a:ext cx="358444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柔性仿生扑翼飞行器"/>
          <p:cNvPicPr>
            <a:picLocks noChangeAspect="1"/>
          </p:cNvPicPr>
          <p:nvPr/>
        </p:nvPicPr>
        <p:blipFill>
          <a:blip r:embed="rId3"/>
          <a:srcRect t="6763" b="6763"/>
          <a:stretch>
            <a:fillRect/>
          </a:stretch>
        </p:blipFill>
        <p:spPr>
          <a:xfrm>
            <a:off x="4407408" y="3072384"/>
            <a:ext cx="3364991" cy="163677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407408" y="3072384"/>
            <a:ext cx="3364991" cy="1636776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62272" y="4882896"/>
            <a:ext cx="1097280" cy="26517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8" y="4887468"/>
            <a:ext cx="1024127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研究方向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2272" y="5230368"/>
            <a:ext cx="325526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柔性仿生扑翼飞行器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2272" y="5641848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气动建模、风洞与飞行验证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5008" y="2962656"/>
            <a:ext cx="358444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空中操作与全驱动平台"/>
          <p:cNvPicPr>
            <a:picLocks noChangeAspect="1"/>
          </p:cNvPicPr>
          <p:nvPr/>
        </p:nvPicPr>
        <p:blipFill>
          <a:blip r:embed="rId4"/>
          <a:srcRect t="6763" b="6763"/>
          <a:stretch>
            <a:fillRect/>
          </a:stretch>
        </p:blipFill>
        <p:spPr>
          <a:xfrm>
            <a:off x="8174736" y="3072384"/>
            <a:ext cx="3364991" cy="1636776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174736" y="3072384"/>
            <a:ext cx="3364991" cy="1636776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0" y="4882896"/>
            <a:ext cx="1097280" cy="26517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5" y="4887468"/>
            <a:ext cx="1024127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研究方向 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230368"/>
            <a:ext cx="325526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空中操作与全驱动平台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641848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机械臂协同与全姿态控制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04  博士课题：仿生翼型复合模态飞行器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23544"/>
            <a:ext cx="109728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围绕垂直起降、巡航效率与敏捷机动的协同需求，开展飞行器系统设计、气动建模和全姿态控制研究。</a:t>
            </a:r>
          </a:p>
        </p:txBody>
      </p:sp>
      <p:pic>
        <p:nvPicPr>
          <p:cNvPr id="10" name="Picture 9" descr="尾座式复合模态飞行器室外飞行"/>
          <p:cNvPicPr>
            <a:picLocks noChangeAspect="1"/>
          </p:cNvPicPr>
          <p:nvPr/>
        </p:nvPicPr>
        <p:blipFill>
          <a:blip r:embed="rId2"/>
          <a:srcRect l="12816" r="12816"/>
          <a:stretch>
            <a:fillRect/>
          </a:stretch>
        </p:blipFill>
        <p:spPr>
          <a:xfrm>
            <a:off x="566928" y="1426464"/>
            <a:ext cx="5742432" cy="4343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1426464"/>
            <a:ext cx="5742432" cy="4343400"/>
          </a:xfrm>
          <a:prstGeom prst="rect">
            <a:avLst/>
          </a:prstGeom>
          <a:noFill/>
          <a:ln w="10160">
            <a:solidFill>
              <a:srgbClr val="C7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330952"/>
            <a:ext cx="5742432" cy="43891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385816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尾座式复合模态飞行器室外飞行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53312"/>
            <a:ext cx="5065776" cy="96926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380744"/>
            <a:ext cx="54864" cy="914400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48272" y="1536192"/>
            <a:ext cx="438912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540763"/>
            <a:ext cx="36575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481328"/>
            <a:ext cx="41056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协同构型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837943"/>
            <a:ext cx="41056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变相位仿生机翼与矢量旋翼协同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487168"/>
            <a:ext cx="5065776" cy="96926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514599"/>
            <a:ext cx="54864" cy="914400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48272" y="2670048"/>
            <a:ext cx="438912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674620"/>
            <a:ext cx="36575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15184"/>
            <a:ext cx="41056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气动建模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971800"/>
            <a:ext cx="41056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迎流状态与柔性变形双循环改进准稳态模型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621024"/>
            <a:ext cx="5065776" cy="96926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3648456"/>
            <a:ext cx="54864" cy="914400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48272" y="3803904"/>
            <a:ext cx="438912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808476"/>
            <a:ext cx="36575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749039"/>
            <a:ext cx="41056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飞行控制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105656"/>
            <a:ext cx="41056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基于 SO(3) 的全姿态、多模态控制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754879"/>
            <a:ext cx="5065776" cy="96926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782312"/>
            <a:ext cx="54864" cy="914400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48272" y="4937759"/>
            <a:ext cx="438912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942331"/>
            <a:ext cx="36575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882895"/>
            <a:ext cx="41056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抗扰控制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239512"/>
            <a:ext cx="41056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扰动在线识别与多执行机构协同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" y="5925312"/>
            <a:ext cx="1207008" cy="283464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929884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垂直起降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41448" y="5925312"/>
            <a:ext cx="1207008" cy="283464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78024" y="5929884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高效巡航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5925312"/>
            <a:ext cx="1207008" cy="283464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8496" y="5929884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敏捷机动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907024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复合飞行模态：垂直起降  →  过渡飞行  →  水平巡航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05  硕士课题：柔性仿生扑翼与气动建模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关注柔性翼面变形与扑翼运动耦合下的气动特性，并通过模型与实验连接分析和飞行验证。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435608"/>
            <a:ext cx="5596128" cy="4773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exible flapping-wing flight experiment"/>
          <p:cNvPicPr>
            <a:picLocks noChangeAspect="1"/>
          </p:cNvPicPr>
          <p:nvPr/>
        </p:nvPicPr>
        <p:blipFill>
          <a:blip r:embed="rId2"/>
          <a:srcRect t="9877" b="9877"/>
          <a:stretch>
            <a:fillRect/>
          </a:stretch>
        </p:blipFill>
        <p:spPr>
          <a:xfrm>
            <a:off x="694944" y="1609344"/>
            <a:ext cx="5266944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94944" y="1609344"/>
            <a:ext cx="5266944" cy="2377440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cro-servo-driven flapping-wing experiment"/>
          <p:cNvPicPr>
            <a:picLocks noChangeAspect="1"/>
          </p:cNvPicPr>
          <p:nvPr/>
        </p:nvPicPr>
        <p:blipFill>
          <a:blip r:embed="rId3"/>
          <a:srcRect l="1836" r="1836"/>
          <a:stretch>
            <a:fillRect/>
          </a:stretch>
        </p:blipFill>
        <p:spPr>
          <a:xfrm>
            <a:off x="694944" y="4133087"/>
            <a:ext cx="2505456" cy="1463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94944" y="4133087"/>
            <a:ext cx="2505456" cy="1463040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5848" y="4133087"/>
            <a:ext cx="2606040" cy="1463040"/>
          </a:xfrm>
          <a:prstGeom prst="roundRect">
            <a:avLst/>
          </a:prstGeom>
          <a:solidFill>
            <a:srgbClr val="F4F7FC"/>
          </a:solidFill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4370832"/>
            <a:ext cx="213969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4754880"/>
            <a:ext cx="210312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CFD 数据驱动模型
风洞与室内外飞行实验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797296"/>
            <a:ext cx="5193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模型分析与飞行实验并行推进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1435608"/>
            <a:ext cx="5276088" cy="4773168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7335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研究内容</a:t>
            </a:r>
          </a:p>
        </p:txBody>
      </p:sp>
      <p:sp>
        <p:nvSpPr>
          <p:cNvPr id="21" name="Oval 20"/>
          <p:cNvSpPr/>
          <p:nvPr/>
        </p:nvSpPr>
        <p:spPr>
          <a:xfrm>
            <a:off x="6729984" y="2295144"/>
            <a:ext cx="146304" cy="146304"/>
          </a:xfrm>
          <a:prstGeom prst="ellipse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803136" y="2468880"/>
            <a:ext cx="0" cy="502920"/>
          </a:xfrm>
          <a:prstGeom prst="line">
            <a:avLst/>
          </a:prstGeom>
          <a:ln w="15240">
            <a:solidFill>
              <a:srgbClr val="AFC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50024" y="21854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气动建模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171700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建立 CFD 数据驱动的改进气动模型</a:t>
            </a:r>
          </a:p>
        </p:txBody>
      </p:sp>
      <p:sp>
        <p:nvSpPr>
          <p:cNvPr id="25" name="Oval 24"/>
          <p:cNvSpPr/>
          <p:nvPr/>
        </p:nvSpPr>
        <p:spPr>
          <a:xfrm>
            <a:off x="6729984" y="3136392"/>
            <a:ext cx="146304" cy="146304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803136" y="3310128"/>
            <a:ext cx="0" cy="502920"/>
          </a:xfrm>
          <a:prstGeom prst="line">
            <a:avLst/>
          </a:prstGeom>
          <a:ln w="15240">
            <a:solidFill>
              <a:srgbClr val="AFC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0024" y="3026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风洞实验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3012948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开展模型与翼面气动特性实验</a:t>
            </a:r>
          </a:p>
        </p:txBody>
      </p:sp>
      <p:sp>
        <p:nvSpPr>
          <p:cNvPr id="29" name="Oval 28"/>
          <p:cNvSpPr/>
          <p:nvPr/>
        </p:nvSpPr>
        <p:spPr>
          <a:xfrm>
            <a:off x="6729984" y="3977640"/>
            <a:ext cx="146304" cy="146304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0024" y="38679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飞行验证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854196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开展室内外扑翼飞行实验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84264" y="4818888"/>
            <a:ext cx="4672584" cy="0"/>
          </a:xfrm>
          <a:prstGeom prst="line">
            <a:avLst/>
          </a:prstGeom>
          <a:ln w="10160">
            <a:solidFill>
              <a:srgbClr val="D5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84264" y="501091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代表论文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5294376"/>
            <a:ext cx="4626864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改进准稳态扑翼气动模型 · Nonlinear Dynamics, 2025
微舵机扑翼运动与气动特性 · Journal of Bionic Engineering,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06  飞行控制：从矢量双旋翼到过驱动六旋翼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078992"/>
            <a:ext cx="5458968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矢量双旋翼飞行器"/>
          <p:cNvPicPr>
            <a:picLocks noChangeAspect="1"/>
          </p:cNvPicPr>
          <p:nvPr/>
        </p:nvPicPr>
        <p:blipFill>
          <a:blip r:embed="rId2"/>
          <a:srcRect t="11927" b="11927"/>
          <a:stretch>
            <a:fillRect/>
          </a:stretch>
        </p:blipFill>
        <p:spPr>
          <a:xfrm>
            <a:off x="676656" y="1243584"/>
            <a:ext cx="5166360" cy="2212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243584"/>
            <a:ext cx="5166360" cy="2212848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3602736"/>
            <a:ext cx="1581912" cy="27432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07308"/>
            <a:ext cx="15087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2024.09 — 2025.06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59352"/>
            <a:ext cx="4965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矢量双旋翼飞行器</a:t>
            </a:r>
          </a:p>
        </p:txBody>
      </p:sp>
      <p:sp>
        <p:nvSpPr>
          <p:cNvPr id="15" name="Oval 14"/>
          <p:cNvSpPr/>
          <p:nvPr/>
        </p:nvSpPr>
        <p:spPr>
          <a:xfrm>
            <a:off x="722375" y="4535424"/>
            <a:ext cx="68580" cy="68580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425696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完成样机设计与装配</a:t>
            </a:r>
          </a:p>
        </p:txBody>
      </p:sp>
      <p:sp>
        <p:nvSpPr>
          <p:cNvPr id="17" name="Oval 16"/>
          <p:cNvSpPr/>
          <p:nvPr/>
        </p:nvSpPr>
        <p:spPr>
          <a:xfrm>
            <a:off x="722375" y="4864608"/>
            <a:ext cx="68580" cy="68580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754880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建立多刚体模型并分析非最小相位特性</a:t>
            </a:r>
          </a:p>
        </p:txBody>
      </p:sp>
      <p:sp>
        <p:nvSpPr>
          <p:cNvPr id="19" name="Oval 18"/>
          <p:cNvSpPr/>
          <p:nvPr/>
        </p:nvSpPr>
        <p:spPr>
          <a:xfrm>
            <a:off x="722375" y="5193792"/>
            <a:ext cx="68580" cy="68580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5084064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设计全姿态控制器并开展实机飞行实验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" y="5522976"/>
            <a:ext cx="4919472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1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Robust Attitude Controller Design for Bi-copter on SO(3)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" y="5952744"/>
            <a:ext cx="4919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已完成样机与实机飞行实验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078992"/>
            <a:ext cx="5458968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过驱动六旋翼全姿态飞行"/>
          <p:cNvPicPr>
            <a:picLocks noChangeAspect="1"/>
          </p:cNvPicPr>
          <p:nvPr/>
        </p:nvPicPr>
        <p:blipFill>
          <a:blip r:embed="rId3"/>
          <a:srcRect t="17572" b="17572"/>
          <a:stretch>
            <a:fillRect/>
          </a:stretch>
        </p:blipFill>
        <p:spPr>
          <a:xfrm>
            <a:off x="6345936" y="1243584"/>
            <a:ext cx="5166360" cy="221284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45936" y="1243584"/>
            <a:ext cx="5166360" cy="2212848"/>
          </a:xfrm>
          <a:prstGeom prst="rect">
            <a:avLst/>
          </a:prstGeom>
          <a:noFill/>
          <a:ln w="1016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2512" y="3602736"/>
            <a:ext cx="1399032" cy="27432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607308"/>
            <a:ext cx="1325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论文撰写中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959352"/>
            <a:ext cx="4965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过驱动六旋翼全姿态飞行</a:t>
            </a:r>
          </a:p>
        </p:txBody>
      </p:sp>
      <p:sp>
        <p:nvSpPr>
          <p:cNvPr id="29" name="Oval 28"/>
          <p:cNvSpPr/>
          <p:nvPr/>
        </p:nvSpPr>
        <p:spPr>
          <a:xfrm>
            <a:off x="6391656" y="4535424"/>
            <a:ext cx="68580" cy="68580"/>
          </a:xfrm>
          <a:prstGeom prst="ellipse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4425696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连续 360° 旋翼倾转</a:t>
            </a:r>
          </a:p>
        </p:txBody>
      </p:sp>
      <p:sp>
        <p:nvSpPr>
          <p:cNvPr id="31" name="Oval 30"/>
          <p:cNvSpPr/>
          <p:nvPr/>
        </p:nvSpPr>
        <p:spPr>
          <a:xfrm>
            <a:off x="6391656" y="4864608"/>
            <a:ext cx="68580" cy="68580"/>
          </a:xfrm>
          <a:prstGeom prst="ellipse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754880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非线性模型预测控制</a:t>
            </a:r>
          </a:p>
        </p:txBody>
      </p:sp>
      <p:sp>
        <p:nvSpPr>
          <p:cNvPr id="33" name="Oval 32"/>
          <p:cNvSpPr/>
          <p:nvPr/>
        </p:nvSpPr>
        <p:spPr>
          <a:xfrm>
            <a:off x="6391656" y="5193792"/>
            <a:ext cx="68580" cy="68580"/>
          </a:xfrm>
          <a:prstGeom prst="ellipse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2824" y="5084064"/>
            <a:ext cx="469087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控制分配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5522976"/>
            <a:ext cx="4919472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1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Full-Attitude Flight of an Overactuated Hexarotor With Continuous 360° Rotor Tilting: Nonlinear Model Predictive Control and Control Allocation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952744"/>
            <a:ext cx="4919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>
                <a:rFonts a:latin="Microsoft YaHei" a:ea="Microsoft YaHei" a:cs="Microsoft YaHei"/>
                <a:solidFill>
                  <a:srgbClr val="188A91"/>
                </a:solidFill>
                <a:latin typeface="Microsoft YaHei"/>
              </a:rPr>
              <a:t>目标：RAL / TRO / TMECH 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07  空中操作：负载变化后的全身协同恢复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四旋翼 + 4DOF 机械臂</a:t>
            </a:r>
          </a:p>
        </p:txBody>
      </p:sp>
      <p:pic>
        <p:nvPicPr>
          <p:cNvPr id="10" name="Picture 9" descr="Quadrotor aerial manipulator during a cooperative transport experiment"/>
          <p:cNvPicPr>
            <a:picLocks noChangeAspect="1"/>
          </p:cNvPicPr>
          <p:nvPr/>
        </p:nvPicPr>
        <p:blipFill>
          <a:blip r:embed="rId2"/>
          <a:srcRect l="5206" r="5206"/>
          <a:stretch>
            <a:fillRect/>
          </a:stretch>
        </p:blipFill>
        <p:spPr>
          <a:xfrm>
            <a:off x="566928" y="1408176"/>
            <a:ext cx="5577840" cy="35021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1408176"/>
            <a:ext cx="5577840" cy="3502152"/>
          </a:xfrm>
          <a:prstGeom prst="rect">
            <a:avLst/>
          </a:prstGeom>
          <a:noFill/>
          <a:ln w="10160">
            <a:solidFill>
              <a:srgbClr val="C7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5102352"/>
            <a:ext cx="5577840" cy="493776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175504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四旋翼飞行平台  +  4DOF 机械臂  +  欠驱动夹爪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408176"/>
            <a:ext cx="5266944" cy="4187952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64208"/>
            <a:ext cx="45262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3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系统与控制工作</a:t>
            </a:r>
          </a:p>
        </p:txBody>
      </p:sp>
      <p:sp>
        <p:nvSpPr>
          <p:cNvPr id="16" name="Oval 15"/>
          <p:cNvSpPr/>
          <p:nvPr/>
        </p:nvSpPr>
        <p:spPr>
          <a:xfrm>
            <a:off x="6684264" y="2322576"/>
            <a:ext cx="68580" cy="68580"/>
          </a:xfrm>
          <a:prstGeom prst="ellipse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1" y="2212848"/>
            <a:ext cx="441655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欠驱动夹爪机构、磁吸供电接口与阻抗控制驱动程序设计</a:t>
            </a:r>
          </a:p>
        </p:txBody>
      </p:sp>
      <p:sp>
        <p:nvSpPr>
          <p:cNvPr id="18" name="Oval 17"/>
          <p:cNvSpPr/>
          <p:nvPr/>
        </p:nvSpPr>
        <p:spPr>
          <a:xfrm>
            <a:off x="6684264" y="3035808"/>
            <a:ext cx="68580" cy="68580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1" y="2926080"/>
            <a:ext cx="441655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空中操作系统硬件配置与通信架构设计</a:t>
            </a:r>
          </a:p>
        </p:txBody>
      </p:sp>
      <p:sp>
        <p:nvSpPr>
          <p:cNvPr id="20" name="Oval 19"/>
          <p:cNvSpPr/>
          <p:nvPr/>
        </p:nvSpPr>
        <p:spPr>
          <a:xfrm>
            <a:off x="6684264" y="3749039"/>
            <a:ext cx="68580" cy="68580"/>
          </a:xfrm>
          <a:prstGeom prst="ellipse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1" y="3639312"/>
            <a:ext cx="441655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基于全身 NMPC 与 INDI 的控制器设计调试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4553712"/>
            <a:ext cx="4700016" cy="0"/>
          </a:xfrm>
          <a:prstGeom prst="line">
            <a:avLst/>
          </a:prstGeom>
          <a:ln w="10160">
            <a:solidFill>
              <a:srgbClr val="D5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56832" y="4727448"/>
            <a:ext cx="1005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论文题目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4974336"/>
            <a:ext cx="461772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1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Aerial–Ground Cooperative Transport via Mass-Adaptive Whole-Body Coordination for Rapid Post-Handover Stabilization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824728"/>
            <a:ext cx="3044952" cy="283464"/>
          </a:xfrm>
          <a:prstGeom prst="roundRect">
            <a:avLst/>
          </a:prstGeom>
          <a:solidFill>
            <a:srgbClr val="E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58293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 lang="zh-CN">
                <a:rFonts a:latin="Microsoft YaHei" a:ea="Microsoft YaHei" a:cs="Microsoft YaHei"/>
                <a:solidFill>
                  <a:srgbClr val="188A91"/>
                </a:solidFill>
                <a:latin typeface="Microsoft YaHei"/>
              </a:rPr>
              <a:t>ICRA 2027 · Submitted (awaiting review)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5870448"/>
            <a:ext cx="1481328" cy="27432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875020"/>
            <a:ext cx="140817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空地协同交接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04872" y="5870448"/>
            <a:ext cx="1298448" cy="27432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41448" y="5875020"/>
            <a:ext cx="122529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负载变化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67911" y="5870448"/>
            <a:ext cx="1627632" cy="27432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7" y="5875020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全身协同恢复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08  学术成果：论文与发明专利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042415"/>
            <a:ext cx="2889504" cy="515721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298448"/>
            <a:ext cx="1060704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zh-CN">
                <a:rFonts a:latin="Arial" a:ea="Arial" a:cs="Arial"/>
                <a:solidFill>
                  <a:srgbClr val="113BA6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408176"/>
            <a:ext cx="941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论文记录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1993391"/>
            <a:ext cx="2304288" cy="0"/>
          </a:xfrm>
          <a:prstGeom prst="line">
            <a:avLst/>
          </a:prstGeom>
          <a:ln w="7620">
            <a:solidFill>
              <a:srgbClr val="E1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" y="2304288"/>
            <a:ext cx="1060704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zh-CN">
                <a:rFonts a:latin="Arial" a:ea="Arial" a:cs="Arial"/>
                <a:solidFill>
                  <a:srgbClr val="113BA6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14016"/>
            <a:ext cx="941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第一作者记录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2999232"/>
            <a:ext cx="2304288" cy="0"/>
          </a:xfrm>
          <a:prstGeom prst="line">
            <a:avLst/>
          </a:prstGeom>
          <a:ln w="7620">
            <a:solidFill>
              <a:srgbClr val="E1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" y="3310128"/>
            <a:ext cx="1060704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zh-CN">
                <a:rFonts a:latin="Arial" a:ea="Arial" a:cs="Arial"/>
                <a:solidFill>
                  <a:srgbClr val="113BA6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419856"/>
            <a:ext cx="941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已发表论文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005072"/>
            <a:ext cx="2304288" cy="0"/>
          </a:xfrm>
          <a:prstGeom prst="line">
            <a:avLst/>
          </a:prstGeom>
          <a:ln w="7620">
            <a:solidFill>
              <a:srgbClr val="E1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2104" y="4315968"/>
            <a:ext cx="14173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6 /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4425696"/>
            <a:ext cx="941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专利 / 学生一作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" y="5431536"/>
            <a:ext cx="2359152" cy="51206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112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已发表 6 篇  ·  在审 1 篇
撰写中 1 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9312" y="1042415"/>
            <a:ext cx="8019288" cy="5157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127101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代表性第一作者论文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95344" y="1773936"/>
            <a:ext cx="3529584" cy="127101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95344" y="1801368"/>
            <a:ext cx="54864" cy="1216151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59935" y="1920240"/>
            <a:ext cx="566928" cy="25603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6511" y="1924812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5" y="2267712"/>
            <a:ext cx="3191256" cy="4297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尾座式飞行器悬停与过渡阶段的协同抗扰控制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935" y="2761488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Aerospace Science and Technology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91272" y="1773936"/>
            <a:ext cx="3529584" cy="127101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91272" y="1801368"/>
            <a:ext cx="54864" cy="1216151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55864" y="1920240"/>
            <a:ext cx="566928" cy="25603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1924812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5864" y="2267712"/>
            <a:ext cx="3191256" cy="4297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可计算柔性变形的改进准稳态扑翼模型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55864" y="2761488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Nonlinear Dynamics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95344" y="3236976"/>
            <a:ext cx="3529584" cy="127101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95344" y="3264408"/>
            <a:ext cx="54864" cy="1216151"/>
          </a:xfrm>
          <a:prstGeom prst="rect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59935" y="3383280"/>
            <a:ext cx="566928" cy="25603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6511" y="3387852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5" y="3730752"/>
            <a:ext cx="3191256" cy="4297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基于 SO(3) 的双旋翼姿态控制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9935" y="4224528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International Journal of Control, Automation and Systems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91272" y="3236976"/>
            <a:ext cx="3529584" cy="127101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91272" y="3264408"/>
            <a:ext cx="54864" cy="1216151"/>
          </a:xfrm>
          <a:prstGeom prst="rect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55864" y="3383280"/>
            <a:ext cx="566928" cy="25603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3387852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55864" y="3730752"/>
            <a:ext cx="3191256" cy="4297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微舵机驱动扑翼的运动与气动特性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5864" y="4224528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Journal of Bionic Engineering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913632" y="4809744"/>
            <a:ext cx="7452360" cy="0"/>
          </a:xfrm>
          <a:prstGeom prst="line">
            <a:avLst/>
          </a:prstGeom>
          <a:ln w="10160">
            <a:solidFill>
              <a:srgbClr val="D5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22776" y="499262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其他已发表合作论文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22776" y="5276088"/>
            <a:ext cx="736092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蝙蝠仿生飞行器能耗优化（Aerospace Science and Technology, 2023）；蝙蝠扑动模式气动特性（ROBIO, 2022）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2776" y="5797296"/>
            <a:ext cx="7360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lang="zh-CN">
                <a:rFonts a:latin="Microsoft YaHei" a:ea="Microsoft YaHei" a:cs="Microsoft YaHei"/>
                <a:solidFill>
                  <a:srgbClr val="748297"/>
                </a:solidFill>
                <a:latin typeface="Microsoft YaHei"/>
              </a:rPr>
              <a:t>8 条论文记录包括 6 篇已发表、1 篇已投稿和 1 篇撰写中；6 项第一作者记录包括已投稿与撰写中稿件。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82880"/>
            <a:ext cx="11420856" cy="53035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310896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3172"/>
            <a:ext cx="8092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zh-CN">
                <a:rFonts a:latin="Microsoft YaHei" a:ea="Microsoft YaHei" a:cs="Microsoft YaHei"/>
                <a:solidFill>
                  <a:srgbClr val="FFFFFF"/>
                </a:solidFill>
                <a:latin typeface="Microsoft YaHei"/>
              </a:rPr>
              <a:t>09  工程实践：研究与系统集成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2651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rFonts a:latin="Microsoft YaHei" a:ea="Microsoft YaHei" a:cs="Microsoft YaHei"/>
                <a:solidFill>
                  <a:srgbClr val="E4ECF8"/>
                </a:solidFill>
                <a:latin typeface="Microsoft YaHei"/>
              </a:rPr>
              <a:t>科研自我介绍  ·  毛天佑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01984" cy="0"/>
          </a:xfrm>
          <a:prstGeom prst="line">
            <a:avLst/>
          </a:prstGeom>
          <a:ln w="8890">
            <a:solidFill>
              <a:srgbClr val="D8E1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" y="6519672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zh-CN">
                <a:rFonts a:latin="Microsoft YaHei" a:ea="Microsoft YaHei" a:cs="Microsoft YaHei"/>
                <a:solidFill>
                  <a:srgbClr val="78879A"/>
                </a:solidFill>
                <a:latin typeface="Microsoft YaHei"/>
              </a:rPr>
              <a:t>HARBIN INSTITUTE OF TECHNOLOGY  ·  ROBOTICS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651052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987552"/>
            <a:ext cx="11128248" cy="786384"/>
          </a:xfrm>
          <a:prstGeom prst="roundRect">
            <a:avLst/>
          </a:prstGeom>
          <a:solidFill>
            <a:srgbClr val="F4F7FC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014984"/>
            <a:ext cx="54864" cy="731520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24712"/>
            <a:ext cx="790041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Differential Robotics (Hangzhou) Technology Co.,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35608"/>
            <a:ext cx="7900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前沿创新实验室 · 空中操作组  ·  全栈工程师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197864"/>
            <a:ext cx="1911095" cy="310896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54896" y="1202436"/>
            <a:ext cx="1837943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2026.07 — 2026.08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048256"/>
            <a:ext cx="3584448" cy="2505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075688"/>
            <a:ext cx="54864" cy="2450592"/>
          </a:xfrm>
          <a:prstGeom prst="rect">
            <a:avLst/>
          </a:prstGeom>
          <a:solidFill>
            <a:srgbClr val="2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2286000"/>
            <a:ext cx="475488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290572"/>
            <a:ext cx="4023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7249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自适应抓取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09544"/>
            <a:ext cx="3163824" cy="1005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欠驱动夹爪、磁吸供电接口与阻抗控制驱动程序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048256"/>
            <a:ext cx="3584448" cy="2505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075688"/>
            <a:ext cx="54864" cy="2450592"/>
          </a:xfrm>
          <a:prstGeom prst="rect">
            <a:avLst/>
          </a:prstGeom>
          <a:solidFill>
            <a:srgbClr val="18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2286000"/>
            <a:ext cx="475488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290572"/>
            <a:ext cx="4023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7249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空中操作系统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209544"/>
            <a:ext cx="3163824" cy="1005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四旋翼与 4DOF 机械臂硬件配置、通信架构及 NMPC–INDI 控制器调试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048256"/>
            <a:ext cx="3584448" cy="2505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2075688"/>
            <a:ext cx="54864" cy="2450592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7888" y="2286000"/>
            <a:ext cx="475488" cy="29260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3" y="2290572"/>
            <a:ext cx="4023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7249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全驱动飞行平台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209544"/>
            <a:ext cx="3163824" cy="10058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六轴倾转旋翼构型、硬件配置、控制链路与过驱动分配研究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科研与工程链路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93792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 lang="zh-CN">
                <a:rFonts a:latin="Microsoft YaHei" a:ea="Microsoft YaHei" a:cs="Microsoft YaHei"/>
                <a:solidFill>
                  <a:srgbClr val="5C6D81"/>
                </a:solidFill>
                <a:latin typeface="Microsoft YaHei"/>
              </a:rPr>
              <a:t>从机构和硬件，到建模、控制与飞行验证，再回到日志分析。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14416"/>
            <a:ext cx="1682496" cy="34747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结构设计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50008" y="5788152"/>
            <a:ext cx="109728" cy="0"/>
          </a:xfrm>
          <a:prstGeom prst="line">
            <a:avLst/>
          </a:prstGeom>
          <a:ln w="1397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505456" y="5614416"/>
            <a:ext cx="1682496" cy="347472"/>
          </a:xfrm>
          <a:prstGeom prst="roundRect">
            <a:avLst/>
          </a:prstGeom>
          <a:solidFill>
            <a:srgbClr val="E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88A91"/>
                </a:solidFill>
                <a:latin typeface="Microsoft YaHei"/>
              </a:rPr>
              <a:t>硬件搭建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15384" y="5788152"/>
            <a:ext cx="109728" cy="0"/>
          </a:xfrm>
          <a:prstGeom prst="line">
            <a:avLst/>
          </a:prstGeom>
          <a:ln w="1397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370832" y="5614416"/>
            <a:ext cx="1682496" cy="34747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7408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动力学建模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5788152"/>
            <a:ext cx="109728" cy="0"/>
          </a:xfrm>
          <a:prstGeom prst="line">
            <a:avLst/>
          </a:prstGeom>
          <a:ln w="1397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236208" y="5614416"/>
            <a:ext cx="1682496" cy="347472"/>
          </a:xfrm>
          <a:prstGeom prst="roundRect">
            <a:avLst/>
          </a:prstGeom>
          <a:solidFill>
            <a:srgbClr val="E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2784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88A91"/>
                </a:solidFill>
                <a:latin typeface="Microsoft YaHei"/>
              </a:rPr>
              <a:t>控制算法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46136" y="5788152"/>
            <a:ext cx="109727" cy="0"/>
          </a:xfrm>
          <a:prstGeom prst="line">
            <a:avLst/>
          </a:prstGeom>
          <a:ln w="1397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101583" y="5614416"/>
            <a:ext cx="1682496" cy="347472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59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仿真与飞行验证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11511" y="5788152"/>
            <a:ext cx="109728" cy="0"/>
          </a:xfrm>
          <a:prstGeom prst="line">
            <a:avLst/>
          </a:prstGeom>
          <a:ln w="13970">
            <a:solidFill>
              <a:srgbClr val="8EA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966959" y="5614416"/>
            <a:ext cx="1682496" cy="347472"/>
          </a:xfrm>
          <a:prstGeom prst="roundRect">
            <a:avLst/>
          </a:prstGeom>
          <a:solidFill>
            <a:srgbClr val="E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03535" y="5618988"/>
            <a:ext cx="1609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zh-CN">
                <a:rFonts a:latin="Microsoft YaHei" a:ea="Microsoft YaHei" a:cs="Microsoft YaHei"/>
                <a:solidFill>
                  <a:srgbClr val="188A91"/>
                </a:solidFill>
                <a:latin typeface="Microsoft YaHei"/>
              </a:rPr>
              <a:t>日志分析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3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207" y="420624"/>
            <a:ext cx="11137392" cy="5989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9875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rFonts a:latin="Arial" a:ea="Arial" a:cs="Arial"/>
                <a:solidFill>
                  <a:srgbClr val="2465A4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48640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42316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欢迎交流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3017520"/>
            <a:ext cx="5468112" cy="0"/>
          </a:xfrm>
          <a:prstGeom prst="line">
            <a:avLst/>
          </a:prstGeom>
          <a:ln w="12700">
            <a:solidFill>
              <a:srgbClr val="B9C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0976" y="333756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>
                <a:rFonts a:latin="Microsoft YaHei" a:ea="Microsoft YaHei" a:cs="Microsoft YaHei"/>
                <a:solidFill>
                  <a:srgbClr val="2465A4"/>
                </a:solidFill>
                <a:latin typeface="Microsoft YaHei"/>
              </a:rPr>
              <a:t>研究兴趣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39312"/>
            <a:ext cx="57607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仿生飞行器  ·  气动建模  ·  飞行控制  ·  空中操作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315968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23B908026@stu.hit.edu.cn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18304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 lang="zh-CN">
                <a:rFonts a:latin="Arial" a:ea="Arial" a:cs="Arial"/>
                <a:solidFill>
                  <a:srgbClr val="5C6D81"/>
                </a:solidFill>
                <a:latin typeface="Arial"/>
              </a:rPr>
              <a:t>https://maotianyou123-tech.github.io/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660136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rFonts a:latin="Arial" a:ea="Arial" a:cs="Arial"/>
                <a:solidFill>
                  <a:srgbClr val="1D2B3A"/>
                </a:solidFill>
                <a:latin typeface="Arial"/>
              </a:rPr>
              <a:t>Tianyou Mao</a:t>
            </a:r>
          </a:p>
        </p:txBody>
      </p:sp>
      <p:pic>
        <p:nvPicPr>
          <p:cNvPr id="13" name="Picture 12" descr="Overactuated hexarotor model"/>
          <p:cNvPicPr>
            <a:picLocks noChangeAspect="1"/>
          </p:cNvPicPr>
          <p:nvPr/>
        </p:nvPicPr>
        <p:blipFill>
          <a:blip r:embed="rId2"/>
          <a:srcRect l="13922" r="13922"/>
          <a:stretch>
            <a:fillRect/>
          </a:stretch>
        </p:blipFill>
        <p:spPr>
          <a:xfrm>
            <a:off x="6949440" y="1097280"/>
            <a:ext cx="4315968" cy="39502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949440" y="1097280"/>
            <a:ext cx="4315968" cy="3950208"/>
          </a:xfrm>
          <a:prstGeom prst="rect">
            <a:avLst/>
          </a:prstGeom>
          <a:noFill/>
          <a:ln w="10160">
            <a:solidFill>
              <a:srgbClr val="C7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5047488"/>
            <a:ext cx="4315968" cy="54864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515721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rFonts a:latin="Microsoft YaHei" a:ea="Microsoft YaHei" a:cs="Microsoft YaHei"/>
                <a:solidFill>
                  <a:srgbClr val="1D2B3A"/>
                </a:solidFill>
                <a:latin typeface="Microsoft YaHei"/>
              </a:rPr>
              <a:t>哈尔滨工业大学  ·  机械工程博士研究生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0152" y="6089904"/>
            <a:ext cx="813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>
                <a:rFonts a:latin="Microsoft YaHei" a:ea="Microsoft YaHei" a:cs="Microsoft YaHei"/>
                <a:solidFill>
                  <a:srgbClr val="113BA6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毛天佑 · 科研自我介绍</dc:title>
  <dc:subject>Harbin Institute of Technology · Academic self-introduction</dc:subject>
  <dc:creator>Tianyou Mao</dc:creator>
  <cp:keywords>毛天佑, Tianyou Mao, Harbin Institute of Technology, self introduction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